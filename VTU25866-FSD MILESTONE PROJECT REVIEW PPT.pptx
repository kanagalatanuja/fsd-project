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6" r:id="rId14"/>
    <p:sldId id="269" r:id="rId15"/>
    <p:sldId id="267" r:id="rId16"/>
    <p:sldId id="268" r:id="rId17"/>
    <p:sldId id="270" r:id="rId18"/>
    <p:sldId id="265" r:id="rId19"/>
  </p:sldIdLst>
  <p:sldSz cx="18288000" cy="10287000"/>
  <p:notesSz cx="6858000" cy="9144000"/>
  <p:embeddedFontLst>
    <p:embeddedFont>
      <p:font typeface="Bookman Old Style" panose="02050604050505020204" pitchFamily="18" charset="0"/>
      <p:regular r:id="rId20"/>
      <p:bold r:id="rId21"/>
      <p:italic r:id="rId22"/>
      <p:boldItalic r:id="rId23"/>
    </p:embeddedFont>
    <p:embeddedFont>
      <p:font typeface="Cambria" panose="02040503050406030204" pitchFamily="18" charset="0"/>
      <p:regular r:id="rId24"/>
      <p:bold r:id="rId25"/>
      <p:italic r:id="rId26"/>
      <p:boldItalic r:id="rId27"/>
    </p:embeddedFont>
    <p:embeddedFont>
      <p:font typeface="Gotham" panose="020B0604020202020204" charset="0"/>
      <p:regular r:id="rId28"/>
    </p:embeddedFont>
    <p:embeddedFont>
      <p:font typeface="Gotham Bold Italics"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769DCB-FCD3-45F2-A367-D08E54D0B59A}" v="8" dt="2026-03-23T20:47:30.6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1" d="100"/>
          <a:sy n="51" d="100"/>
        </p:scale>
        <p:origin x="898"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7.fntdata"/><Relationship Id="rId3" Type="http://schemas.openxmlformats.org/officeDocument/2006/relationships/customXml" Target="../customXml/item3.xml"/><Relationship Id="rId21" Type="http://schemas.openxmlformats.org/officeDocument/2006/relationships/font" Target="fonts/font2.fntdata"/><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vani chowdary" userId="2ba0c73caa021fea" providerId="LiveId" clId="{7055B3A2-6670-49D0-B7BA-3D643B23515C}"/>
    <pc:docChg chg="custSel modSld">
      <pc:chgData name="pavani chowdary" userId="2ba0c73caa021fea" providerId="LiveId" clId="{7055B3A2-6670-49D0-B7BA-3D643B23515C}" dt="2026-03-24T03:24:22.392" v="54" actId="20577"/>
      <pc:docMkLst>
        <pc:docMk/>
      </pc:docMkLst>
      <pc:sldChg chg="modSp mod">
        <pc:chgData name="pavani chowdary" userId="2ba0c73caa021fea" providerId="LiveId" clId="{7055B3A2-6670-49D0-B7BA-3D643B23515C}" dt="2026-03-24T03:24:22.392" v="54" actId="20577"/>
        <pc:sldMkLst>
          <pc:docMk/>
          <pc:sldMk cId="0" sldId="256"/>
        </pc:sldMkLst>
        <pc:spChg chg="mod">
          <ac:chgData name="pavani chowdary" userId="2ba0c73caa021fea" providerId="LiveId" clId="{7055B3A2-6670-49D0-B7BA-3D643B23515C}" dt="2026-03-24T03:23:58.231" v="34" actId="20577"/>
          <ac:spMkLst>
            <pc:docMk/>
            <pc:sldMk cId="0" sldId="256"/>
            <ac:spMk id="15" creationId="{6FF32D1A-2F9C-AC53-CCBD-ABF748DF236F}"/>
          </ac:spMkLst>
        </pc:spChg>
        <pc:spChg chg="mod">
          <ac:chgData name="pavani chowdary" userId="2ba0c73caa021fea" providerId="LiveId" clId="{7055B3A2-6670-49D0-B7BA-3D643B23515C}" dt="2026-03-24T03:24:22.392" v="54" actId="20577"/>
          <ac:spMkLst>
            <pc:docMk/>
            <pc:sldMk cId="0" sldId="256"/>
            <ac:spMk id="27" creationId="{AC6C53BF-3850-6683-E07F-D595EC8B02B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7.jpeg"/><Relationship Id="rId4" Type="http://schemas.openxmlformats.org/officeDocument/2006/relationships/image" Target="../media/image6.jpe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9.jpe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jpeg"/><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2.jpeg"/><Relationship Id="rId4" Type="http://schemas.openxmlformats.org/officeDocument/2006/relationships/image" Target="../media/image11.jpe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dirty="0"/>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dirty="0"/>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24-03-2026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Responsive E-Commerce Interface With State – Persistent Cart</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99060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K.TANUJA – VTU25866 – 23UECS0256</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058400" y="7818652"/>
            <a:ext cx="76004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HAFIZUR RAHMAN. – 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8,9 – </a:t>
            </a:r>
            <a:r>
              <a:rPr lang="en-US" b="1" dirty="0"/>
              <a:t> </a:t>
            </a:r>
            <a:r>
              <a:rPr lang="en-US" sz="2000" b="1" dirty="0">
                <a:latin typeface="Cambria" panose="02040503050406030204" pitchFamily="18" charset="0"/>
                <a:ea typeface="Cambria" panose="02040503050406030204" pitchFamily="18" charset="0"/>
              </a:rPr>
              <a:t>Decent Work and Economic Growth, </a:t>
            </a:r>
            <a:r>
              <a:rPr lang="en-IN" sz="2000" b="1" dirty="0">
                <a:latin typeface="Cambria" panose="02040503050406030204" pitchFamily="18" charset="0"/>
                <a:ea typeface="Cambria" panose="02040503050406030204" pitchFamily="18" charset="0"/>
              </a:rPr>
              <a:t> Industry, Innovation and Infrastructure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dirty="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653141" y="1405007"/>
            <a:ext cx="15835734" cy="8586966"/>
          </a:xfrm>
          <a:prstGeom prst="rect">
            <a:avLst/>
          </a:prstGeom>
          <a:noFill/>
        </p:spPr>
        <p:txBody>
          <a:bodyPr wrap="square" rtlCol="0">
            <a:spAutoFit/>
          </a:bodyPr>
          <a:lstStyle/>
          <a:p>
            <a:pPr marL="457200" indent="-457200" algn="just">
              <a:buFont typeface="Wingdings" panose="05000000000000000000" pitchFamily="2" charset="2"/>
              <a:buChar char="q"/>
            </a:pPr>
            <a:r>
              <a:rPr lang="en-US" sz="2400" dirty="0">
                <a:latin typeface="Cambria" panose="02040503050406030204" pitchFamily="18" charset="0"/>
                <a:ea typeface="Cambria" panose="02040503050406030204" pitchFamily="18" charset="0"/>
              </a:rPr>
              <a:t>In today's digital era, e-commerce has become an essential part of daily life, transforming how people shop and businesses operate.</a:t>
            </a:r>
          </a:p>
          <a:p>
            <a:pPr marL="457200" indent="-457200" algn="just">
              <a:buFont typeface="Wingdings" panose="05000000000000000000" pitchFamily="2" charset="2"/>
              <a:buChar char="q"/>
            </a:pPr>
            <a:endParaRPr lang="en-US" sz="2400" dirty="0">
              <a:latin typeface="Cambria" panose="02040503050406030204" pitchFamily="18" charset="0"/>
              <a:ea typeface="Cambria" panose="02040503050406030204" pitchFamily="18" charset="0"/>
            </a:endParaRPr>
          </a:p>
          <a:p>
            <a:pPr marL="457200" indent="-457200" algn="just">
              <a:buFont typeface="Wingdings" panose="05000000000000000000" pitchFamily="2" charset="2"/>
              <a:buChar char="q"/>
            </a:pPr>
            <a:r>
              <a:rPr lang="en-US" sz="2400" dirty="0">
                <a:latin typeface="Cambria" panose="02040503050406030204" pitchFamily="18" charset="0"/>
                <a:ea typeface="Cambria" panose="02040503050406030204" pitchFamily="18" charset="0"/>
              </a:rPr>
              <a:t>However, many small businesses and local entrepreneurs struggle to establish an online presence due to the high cost and complexity of existing e-commerce platforms.</a:t>
            </a:r>
          </a:p>
          <a:p>
            <a:pPr marL="457200" indent="-457200" algn="just">
              <a:buFont typeface="Wingdings" panose="05000000000000000000" pitchFamily="2" charset="2"/>
              <a:buChar char="q"/>
            </a:pPr>
            <a:endParaRPr lang="en-US" sz="2400" dirty="0">
              <a:latin typeface="Cambria" panose="02040503050406030204" pitchFamily="18" charset="0"/>
              <a:ea typeface="Cambria" panose="02040503050406030204" pitchFamily="18" charset="0"/>
            </a:endParaRPr>
          </a:p>
          <a:p>
            <a:pPr marL="457200" indent="-457200" algn="just">
              <a:buFont typeface="Wingdings" panose="05000000000000000000" pitchFamily="2" charset="2"/>
              <a:buChar char="q"/>
            </a:pPr>
            <a:r>
              <a:rPr lang="en-US" sz="2400" dirty="0">
                <a:latin typeface="Cambria" panose="02040503050406030204" pitchFamily="18" charset="0"/>
                <a:ea typeface="Cambria" panose="02040503050406030204" pitchFamily="18" charset="0"/>
              </a:rPr>
              <a:t>Traditional shopping requires physical store visits, which limits customer reach and convenience, especially during situations like pandemics or for people with mobility issues.</a:t>
            </a:r>
          </a:p>
          <a:p>
            <a:pPr marL="457200" indent="-457200" algn="just">
              <a:buFont typeface="Wingdings" panose="05000000000000000000" pitchFamily="2" charset="2"/>
              <a:buChar char="q"/>
            </a:pPr>
            <a:endParaRPr lang="en-US" sz="2400" dirty="0">
              <a:latin typeface="Cambria" panose="02040503050406030204" pitchFamily="18" charset="0"/>
              <a:ea typeface="Cambria" panose="02040503050406030204" pitchFamily="18" charset="0"/>
            </a:endParaRPr>
          </a:p>
          <a:p>
            <a:pPr marL="457200" indent="-457200" algn="just">
              <a:buFont typeface="Wingdings" panose="05000000000000000000" pitchFamily="2" charset="2"/>
              <a:buChar char="q"/>
            </a:pPr>
            <a:r>
              <a:rPr lang="en-US" sz="2400" dirty="0">
                <a:latin typeface="Cambria" panose="02040503050406030204" pitchFamily="18" charset="0"/>
                <a:ea typeface="Cambria" panose="02040503050406030204" pitchFamily="18" charset="0"/>
              </a:rPr>
              <a:t>Existing solutions often require technical expertise to set up, expensive subscriptions, or come with features that small businesses don't need, making them inaccessible to beginners.</a:t>
            </a:r>
          </a:p>
          <a:p>
            <a:pPr marL="457200" indent="-457200" algn="just">
              <a:buFont typeface="Wingdings" panose="05000000000000000000" pitchFamily="2" charset="2"/>
              <a:buChar char="q"/>
            </a:pPr>
            <a:endParaRPr lang="en-US" sz="2400" dirty="0">
              <a:latin typeface="Cambria" panose="02040503050406030204" pitchFamily="18" charset="0"/>
              <a:ea typeface="Cambria" panose="02040503050406030204" pitchFamily="18" charset="0"/>
            </a:endParaRPr>
          </a:p>
          <a:p>
            <a:pPr marL="457200" indent="-457200" algn="just">
              <a:buFont typeface="Wingdings" panose="05000000000000000000" pitchFamily="2" charset="2"/>
              <a:buChar char="q"/>
            </a:pPr>
            <a:r>
              <a:rPr lang="en-US" sz="2400" dirty="0">
                <a:latin typeface="Cambria" panose="02040503050406030204" pitchFamily="18" charset="0"/>
                <a:ea typeface="Cambria" panose="02040503050406030204" pitchFamily="18" charset="0"/>
              </a:rPr>
              <a:t>This project is important because it democratizes e-commerce by providing a free, simple, and user-friendly platform that anyone can use to start selling online.</a:t>
            </a:r>
          </a:p>
          <a:p>
            <a:pPr marL="457200" indent="-457200" algn="just">
              <a:buFont typeface="Wingdings" panose="05000000000000000000" pitchFamily="2" charset="2"/>
              <a:buChar char="q"/>
            </a:pPr>
            <a:endParaRPr lang="en-US" sz="2400" dirty="0">
              <a:latin typeface="Cambria" panose="02040503050406030204" pitchFamily="18" charset="0"/>
              <a:ea typeface="Cambria" panose="02040503050406030204" pitchFamily="18" charset="0"/>
            </a:endParaRPr>
          </a:p>
          <a:p>
            <a:pPr marL="457200" indent="-457200" algn="just">
              <a:buFont typeface="Wingdings" panose="05000000000000000000" pitchFamily="2" charset="2"/>
              <a:buChar char="q"/>
            </a:pPr>
            <a:r>
              <a:rPr lang="en-US" sz="2400" dirty="0">
                <a:latin typeface="Cambria" panose="02040503050406030204" pitchFamily="18" charset="0"/>
                <a:ea typeface="Cambria" panose="02040503050406030204" pitchFamily="18" charset="0"/>
              </a:rPr>
              <a:t>The real-world relevance is evident as more consumers prefer online shopping, and businesses need affordable digital solutions to stay competitive in the modern market.</a:t>
            </a:r>
          </a:p>
          <a:p>
            <a:pPr marL="457200" indent="-457200" algn="just">
              <a:buFont typeface="Wingdings" panose="05000000000000000000" pitchFamily="2" charset="2"/>
              <a:buChar char="q"/>
            </a:pPr>
            <a:endParaRPr lang="en-US" sz="2400" dirty="0">
              <a:latin typeface="Cambria" panose="02040503050406030204" pitchFamily="18" charset="0"/>
              <a:ea typeface="Cambria" panose="02040503050406030204" pitchFamily="18" charset="0"/>
            </a:endParaRPr>
          </a:p>
          <a:p>
            <a:pPr marL="457200" indent="-457200" algn="just">
              <a:buFont typeface="Wingdings" panose="05000000000000000000" pitchFamily="2" charset="2"/>
              <a:buChar char="q"/>
            </a:pPr>
            <a:r>
              <a:rPr lang="en-US" sz="2400" dirty="0" err="1">
                <a:latin typeface="Cambria" panose="02040503050406030204" pitchFamily="18" charset="0"/>
                <a:ea typeface="Cambria" panose="02040503050406030204" pitchFamily="18" charset="0"/>
              </a:rPr>
              <a:t>ModernMart</a:t>
            </a:r>
            <a:r>
              <a:rPr lang="en-US" sz="2400" dirty="0">
                <a:latin typeface="Cambria" panose="02040503050406030204" pitchFamily="18" charset="0"/>
                <a:ea typeface="Cambria" panose="02040503050406030204" pitchFamily="18" charset="0"/>
              </a:rPr>
              <a:t> is a responsive e-commerce web application that provides essential features including user authentication, product catalog, state-persistent shopping cart, and </a:t>
            </a:r>
            <a:r>
              <a:rPr lang="en-US" sz="2400" dirty="0" err="1">
                <a:latin typeface="Cambria" panose="02040503050406030204" pitchFamily="18" charset="0"/>
                <a:ea typeface="Cambria" panose="02040503050406030204" pitchFamily="18" charset="0"/>
              </a:rPr>
              <a:t>wishlist</a:t>
            </a:r>
            <a:r>
              <a:rPr lang="en-US" sz="2400" dirty="0">
                <a:latin typeface="Cambria" panose="02040503050406030204" pitchFamily="18" charset="0"/>
                <a:ea typeface="Cambria" panose="02040503050406030204" pitchFamily="18" charset="0"/>
              </a:rPr>
              <a:t> management.</a:t>
            </a:r>
          </a:p>
          <a:p>
            <a:pPr marL="457200" indent="-457200" algn="just">
              <a:buFont typeface="Wingdings" panose="05000000000000000000" pitchFamily="2" charset="2"/>
              <a:buChar char="q"/>
            </a:pPr>
            <a:endParaRPr lang="en-US" sz="2400" dirty="0">
              <a:latin typeface="Cambria" panose="02040503050406030204" pitchFamily="18" charset="0"/>
              <a:ea typeface="Cambria" panose="02040503050406030204" pitchFamily="18" charset="0"/>
            </a:endParaRPr>
          </a:p>
          <a:p>
            <a:pPr marL="457200" indent="-457200" algn="just">
              <a:buFont typeface="Wingdings" panose="05000000000000000000" pitchFamily="2" charset="2"/>
              <a:buChar char="q"/>
            </a:pPr>
            <a:r>
              <a:rPr lang="en-US" sz="2400" dirty="0">
                <a:latin typeface="Cambria" panose="02040503050406030204" pitchFamily="18" charset="0"/>
                <a:ea typeface="Cambria" panose="02040503050406030204" pitchFamily="18" charset="0"/>
              </a:rPr>
              <a:t>Built with HTML5, CSS3, JavaScript, PHP, and MySQL, this system offers a complete online shopping experience that small businesses can deploy easily without technical expertise.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6526" y="2015465"/>
            <a:ext cx="15082325" cy="3970318"/>
          </a:xfrm>
          <a:prstGeom prst="rect">
            <a:avLst/>
          </a:prstGeom>
          <a:noFill/>
        </p:spPr>
        <p:txBody>
          <a:bodyPr wrap="square" rtlCol="0">
            <a:spAutoFit/>
          </a:bodyPr>
          <a:lstStyle/>
          <a:p>
            <a:pPr algn="just"/>
            <a:r>
              <a:rPr lang="en-US" sz="2800" dirty="0">
                <a:latin typeface="Cambria" panose="02040503050406030204" pitchFamily="18" charset="0"/>
                <a:ea typeface="Cambria" panose="02040503050406030204" pitchFamily="18" charset="0"/>
              </a:rPr>
              <a:t>Small businesses today cannot afford expensive e-commerce platforms that require technical expertise and monthly fees. They are forced to rely on physical stores with limited reach, while customers increasingly prefer online shopping. Existing solutions either cost too much or lack essential features like persistent shopping carts and </a:t>
            </a:r>
            <a:r>
              <a:rPr lang="en-US" sz="2800" dirty="0" err="1">
                <a:latin typeface="Cambria" panose="02040503050406030204" pitchFamily="18" charset="0"/>
                <a:ea typeface="Cambria" panose="02040503050406030204" pitchFamily="18" charset="0"/>
              </a:rPr>
              <a:t>wishlists</a:t>
            </a:r>
            <a:r>
              <a:rPr lang="en-US" sz="2800" dirty="0">
                <a:latin typeface="Cambria" panose="02040503050406030204" pitchFamily="18" charset="0"/>
                <a:ea typeface="Cambria" panose="02040503050406030204" pitchFamily="18" charset="0"/>
              </a:rPr>
              <a:t>. When customers browse basic websites, their cart items disappear after they navigate away. There's no way to save favorite products for later, leading to lost sales. Most affordable options don't work well on mobile phones or lack proper user authentication. Small business owners need a simple solution they can set up themselves without technical knowledge. </a:t>
            </a:r>
            <a:r>
              <a:rPr lang="en-US" sz="2800" dirty="0" err="1">
                <a:latin typeface="Cambria" panose="02040503050406030204" pitchFamily="18" charset="0"/>
                <a:ea typeface="Cambria" panose="02040503050406030204" pitchFamily="18" charset="0"/>
              </a:rPr>
              <a:t>ModernMart</a:t>
            </a:r>
            <a:r>
              <a:rPr lang="en-US" sz="2800" dirty="0">
                <a:latin typeface="Cambria" panose="02040503050406030204" pitchFamily="18" charset="0"/>
                <a:ea typeface="Cambria" panose="02040503050406030204" pitchFamily="18" charset="0"/>
              </a:rPr>
              <a:t> solves all these problems by providing a free, user-friendly e-commerce platform with all essential features built-in.</a:t>
            </a:r>
            <a:endParaRPr lang="en-IN" sz="4000" dirty="0">
              <a:latin typeface="Cambria" panose="02040503050406030204" pitchFamily="18" charset="0"/>
              <a:ea typeface="Cambria" panose="020405030504060302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2057400" y="3091777"/>
            <a:ext cx="15082325" cy="2677656"/>
          </a:xfrm>
          <a:prstGeom prst="rect">
            <a:avLst/>
          </a:prstGeom>
          <a:noFill/>
        </p:spPr>
        <p:txBody>
          <a:bodyPr wrap="square" rtlCol="0">
            <a:spAutoFit/>
          </a:bodyPr>
          <a:lstStyle/>
          <a:p>
            <a:pPr marL="457200" indent="-457200">
              <a:buFont typeface="Wingdings" panose="05000000000000000000" pitchFamily="2" charset="2"/>
              <a:buChar char="q"/>
            </a:pPr>
            <a:r>
              <a:rPr lang="en-US" sz="2800" dirty="0">
                <a:latin typeface="Cambria" panose="02040503050406030204" pitchFamily="18" charset="0"/>
                <a:ea typeface="Cambria" panose="02040503050406030204" pitchFamily="18" charset="0"/>
              </a:rPr>
              <a:t>To design and develop a responsive frontend interface using HTML5, CSS3, and JavaScript with real-time validation for improved user experience.</a:t>
            </a:r>
          </a:p>
          <a:p>
            <a:endParaRPr lang="en-US" sz="2800"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US" sz="2800" dirty="0">
                <a:latin typeface="Cambria" panose="02040503050406030204" pitchFamily="18" charset="0"/>
                <a:ea typeface="Cambria" panose="02040503050406030204" pitchFamily="18" charset="0"/>
              </a:rPr>
              <a:t>To implement a secure backend system using PHP and MySQL for user authentication, session management, persistent cart storage, and </a:t>
            </a:r>
            <a:r>
              <a:rPr lang="en-US" sz="2800" dirty="0" err="1">
                <a:latin typeface="Cambria" panose="02040503050406030204" pitchFamily="18" charset="0"/>
                <a:ea typeface="Cambria" panose="02040503050406030204" pitchFamily="18" charset="0"/>
              </a:rPr>
              <a:t>wishlist</a:t>
            </a:r>
            <a:r>
              <a:rPr lang="en-US" sz="2800" dirty="0">
                <a:latin typeface="Cambria" panose="02040503050406030204" pitchFamily="18" charset="0"/>
                <a:ea typeface="Cambria" panose="02040503050406030204" pitchFamily="18" charset="0"/>
              </a:rPr>
              <a:t> database operations.</a:t>
            </a:r>
            <a:br>
              <a:rPr lang="en-US" sz="2800" dirty="0">
                <a:latin typeface="Cambria" panose="02040503050406030204" pitchFamily="18" charset="0"/>
                <a:ea typeface="Cambria" panose="02040503050406030204" pitchFamily="18" charset="0"/>
              </a:rPr>
            </a:br>
            <a:endParaRPr lang="en-IN" sz="2800" dirty="0">
              <a:latin typeface="Cambria" panose="02040503050406030204" pitchFamily="18" charset="0"/>
              <a:ea typeface="Cambria" panose="020405030504060302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8894743"/>
          </a:xfrm>
          <a:prstGeom prst="rect">
            <a:avLst/>
          </a:prstGeom>
          <a:noFill/>
        </p:spPr>
        <p:txBody>
          <a:bodyPr wrap="square" rtlCol="0">
            <a:spAutoFit/>
          </a:bodyPr>
          <a:lstStyle/>
          <a:p>
            <a:pPr marL="457200" indent="-457200">
              <a:buFont typeface="Wingdings" panose="05000000000000000000" pitchFamily="2" charset="2"/>
              <a:buChar char="q"/>
            </a:pPr>
            <a:r>
              <a:rPr lang="en-US" sz="2200" b="1" dirty="0"/>
              <a:t> </a:t>
            </a:r>
            <a:r>
              <a:rPr lang="en-US" sz="2200" b="1" dirty="0">
                <a:latin typeface="Cambria" panose="02040503050406030204" pitchFamily="18" charset="0"/>
                <a:ea typeface="Cambria" panose="02040503050406030204" pitchFamily="18" charset="0"/>
              </a:rPr>
              <a:t>Complete E-Commerce Solution </a:t>
            </a:r>
            <a:r>
              <a:rPr lang="en-US" sz="2200" dirty="0">
                <a:latin typeface="Cambria" panose="02040503050406030204" pitchFamily="18" charset="0"/>
                <a:ea typeface="Cambria" panose="02040503050406030204" pitchFamily="18" charset="0"/>
              </a:rPr>
              <a:t>- </a:t>
            </a:r>
            <a:r>
              <a:rPr lang="en-US" sz="2200" dirty="0" err="1">
                <a:latin typeface="Cambria" panose="02040503050406030204" pitchFamily="18" charset="0"/>
                <a:ea typeface="Cambria" panose="02040503050406030204" pitchFamily="18" charset="0"/>
              </a:rPr>
              <a:t>ModernMart</a:t>
            </a:r>
            <a:r>
              <a:rPr lang="en-US" sz="2200" dirty="0">
                <a:latin typeface="Cambria" panose="02040503050406030204" pitchFamily="18" charset="0"/>
                <a:ea typeface="Cambria" panose="02040503050406030204" pitchFamily="18" charset="0"/>
              </a:rPr>
              <a:t> is a free, all-in-one online store platform with product catalog, user accounts, shopping cart, and </a:t>
            </a:r>
            <a:r>
              <a:rPr lang="en-US" sz="2200" dirty="0" err="1">
                <a:latin typeface="Cambria" panose="02040503050406030204" pitchFamily="18" charset="0"/>
                <a:ea typeface="Cambria" panose="02040503050406030204" pitchFamily="18" charset="0"/>
              </a:rPr>
              <a:t>wishlist</a:t>
            </a:r>
            <a:r>
              <a:rPr lang="en-US" sz="2200" dirty="0">
                <a:latin typeface="Cambria" panose="02040503050406030204" pitchFamily="18" charset="0"/>
                <a:ea typeface="Cambria" panose="02040503050406030204" pitchFamily="18" charset="0"/>
              </a:rPr>
              <a:t> - everything a small business needs to start selling online.</a:t>
            </a:r>
          </a:p>
          <a:p>
            <a:pPr marL="457200" indent="-457200">
              <a:buFont typeface="Wingdings" panose="05000000000000000000" pitchFamily="2" charset="2"/>
              <a:buChar char="q"/>
            </a:pPr>
            <a:endParaRPr lang="en-US" sz="2200"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US" sz="2200" b="1" dirty="0">
                <a:latin typeface="Cambria" panose="02040503050406030204" pitchFamily="18" charset="0"/>
                <a:ea typeface="Cambria" panose="02040503050406030204" pitchFamily="18" charset="0"/>
              </a:rPr>
              <a:t>Secure User Authentication - </a:t>
            </a:r>
            <a:r>
              <a:rPr lang="en-US" sz="2200" dirty="0">
                <a:latin typeface="Cambria" panose="02040503050406030204" pitchFamily="18" charset="0"/>
                <a:ea typeface="Cambria" panose="02040503050406030204" pitchFamily="18" charset="0"/>
              </a:rPr>
              <a:t>Registration and login system with password hashing and session management. Dual-layer validation (JavaScript + PHP) ensures security and data integrity.</a:t>
            </a:r>
          </a:p>
          <a:p>
            <a:pPr marL="457200" indent="-457200">
              <a:buFont typeface="Wingdings" panose="05000000000000000000" pitchFamily="2" charset="2"/>
              <a:buChar char="q"/>
            </a:pPr>
            <a:endParaRPr lang="en-US" sz="2200"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US" sz="2200" b="1" dirty="0">
                <a:latin typeface="Cambria" panose="02040503050406030204" pitchFamily="18" charset="0"/>
                <a:ea typeface="Cambria" panose="02040503050406030204" pitchFamily="18" charset="0"/>
              </a:rPr>
              <a:t>Dynamic Product Display - </a:t>
            </a:r>
            <a:r>
              <a:rPr lang="en-US" sz="2200" dirty="0">
                <a:latin typeface="Cambria" panose="02040503050406030204" pitchFamily="18" charset="0"/>
                <a:ea typeface="Cambria" panose="02040503050406030204" pitchFamily="18" charset="0"/>
              </a:rPr>
              <a:t>Products are fetched from MySQL database and displayed in a responsive grid with images, prices, categories, and real-time stock updates.</a:t>
            </a:r>
          </a:p>
          <a:p>
            <a:pPr marL="457200" indent="-457200">
              <a:buFont typeface="Wingdings" panose="05000000000000000000" pitchFamily="2" charset="2"/>
              <a:buChar char="q"/>
            </a:pPr>
            <a:endParaRPr lang="en-US" sz="2200"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N" sz="2200" b="1" dirty="0">
                <a:latin typeface="Cambria" panose="02040503050406030204" pitchFamily="18" charset="0"/>
                <a:ea typeface="Cambria" panose="02040503050406030204" pitchFamily="18" charset="0"/>
              </a:rPr>
              <a:t> State-Persistent Shopping Cart - </a:t>
            </a:r>
            <a:r>
              <a:rPr lang="en-US" sz="2200" dirty="0">
                <a:latin typeface="Cambria" panose="02040503050406030204" pitchFamily="18" charset="0"/>
                <a:ea typeface="Cambria" panose="02040503050406030204" pitchFamily="18" charset="0"/>
              </a:rPr>
              <a:t>Cart items are saved using PHP sessions - they don't disappear on page refresh or navigation. Users can adjust quantities and see instant subtotal calculations.</a:t>
            </a:r>
          </a:p>
          <a:p>
            <a:pPr marL="457200" indent="-457200">
              <a:buFont typeface="Wingdings" panose="05000000000000000000" pitchFamily="2" charset="2"/>
              <a:buChar char="q"/>
            </a:pPr>
            <a:endParaRPr lang="en-US" sz="2200"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N" sz="2200" b="1" dirty="0">
                <a:latin typeface="Cambria" panose="02040503050406030204" pitchFamily="18" charset="0"/>
                <a:ea typeface="Cambria" panose="02040503050406030204" pitchFamily="18" charset="0"/>
              </a:rPr>
              <a:t>Personal Wishlist -  </a:t>
            </a:r>
            <a:r>
              <a:rPr lang="en-US" sz="2200" dirty="0">
                <a:latin typeface="Cambria" panose="02040503050406030204" pitchFamily="18" charset="0"/>
                <a:ea typeface="Cambria" panose="02040503050406030204" pitchFamily="18" charset="0"/>
              </a:rPr>
              <a:t>Logged-in users can save favorite products to their </a:t>
            </a:r>
            <a:r>
              <a:rPr lang="en-US" sz="2200" dirty="0" err="1">
                <a:latin typeface="Cambria" panose="02040503050406030204" pitchFamily="18" charset="0"/>
                <a:ea typeface="Cambria" panose="02040503050406030204" pitchFamily="18" charset="0"/>
              </a:rPr>
              <a:t>wishlist</a:t>
            </a:r>
            <a:r>
              <a:rPr lang="en-US" sz="2200" dirty="0">
                <a:latin typeface="Cambria" panose="02040503050406030204" pitchFamily="18" charset="0"/>
                <a:ea typeface="Cambria" panose="02040503050406030204" pitchFamily="18" charset="0"/>
              </a:rPr>
              <a:t> (stored in database) and add them to cart with one click.</a:t>
            </a:r>
          </a:p>
          <a:p>
            <a:pPr marL="457200" indent="-457200">
              <a:buFont typeface="Wingdings" panose="05000000000000000000" pitchFamily="2" charset="2"/>
              <a:buChar char="q"/>
            </a:pPr>
            <a:endParaRPr lang="en-US" sz="2200"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N" sz="2200" b="1" dirty="0">
                <a:latin typeface="Cambria" panose="02040503050406030204" pitchFamily="18" charset="0"/>
                <a:ea typeface="Cambria" panose="02040503050406030204" pitchFamily="18" charset="0"/>
              </a:rPr>
              <a:t> Fully Responsive Design - </a:t>
            </a:r>
            <a:r>
              <a:rPr lang="en-US" sz="2200" dirty="0">
                <a:latin typeface="Cambria" panose="02040503050406030204" pitchFamily="18" charset="0"/>
                <a:ea typeface="Cambria" panose="02040503050406030204" pitchFamily="18" charset="0"/>
              </a:rPr>
              <a:t>Works perfectly on desktop, tablet, and mobile. Features hamburger menu, touch-friendly buttons, and adaptive layouts.</a:t>
            </a:r>
          </a:p>
          <a:p>
            <a:pPr marL="457200" indent="-457200">
              <a:buFont typeface="Wingdings" panose="05000000000000000000" pitchFamily="2" charset="2"/>
              <a:buChar char="q"/>
            </a:pPr>
            <a:endParaRPr lang="en-US" sz="2200"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N" sz="2200" b="1" dirty="0">
                <a:latin typeface="Cambria" panose="02040503050406030204" pitchFamily="18" charset="0"/>
                <a:ea typeface="Cambria" panose="02040503050406030204" pitchFamily="18" charset="0"/>
              </a:rPr>
              <a:t> How It Solves Problems of Existing systems – </a:t>
            </a:r>
          </a:p>
          <a:p>
            <a:r>
              <a:rPr lang="en-US" sz="2200" dirty="0">
                <a:latin typeface="Cambria" panose="02040503050406030204" pitchFamily="18" charset="0"/>
                <a:ea typeface="Cambria" panose="02040503050406030204" pitchFamily="18" charset="0"/>
              </a:rPr>
              <a:t>• </a:t>
            </a:r>
            <a:r>
              <a:rPr lang="en-US" sz="2200" b="1" dirty="0">
                <a:latin typeface="Cambria" panose="02040503050406030204" pitchFamily="18" charset="0"/>
                <a:ea typeface="Cambria" panose="02040503050406030204" pitchFamily="18" charset="0"/>
              </a:rPr>
              <a:t>Eliminating cost barriers</a:t>
            </a:r>
            <a:r>
              <a:rPr lang="en-US" sz="2200" dirty="0">
                <a:latin typeface="Cambria" panose="02040503050406030204" pitchFamily="18" charset="0"/>
                <a:ea typeface="Cambria" panose="02040503050406030204" pitchFamily="18" charset="0"/>
              </a:rPr>
              <a:t> – 100% free platform with no subscriptions or hidden fees</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 </a:t>
            </a:r>
            <a:r>
              <a:rPr lang="en-US" sz="2200" b="1" dirty="0">
                <a:latin typeface="Cambria" panose="02040503050406030204" pitchFamily="18" charset="0"/>
                <a:ea typeface="Cambria" panose="02040503050406030204" pitchFamily="18" charset="0"/>
              </a:rPr>
              <a:t>Removing technical barriers</a:t>
            </a:r>
            <a:r>
              <a:rPr lang="en-US" sz="2200" dirty="0">
                <a:latin typeface="Cambria" panose="02040503050406030204" pitchFamily="18" charset="0"/>
                <a:ea typeface="Cambria" panose="02040503050406030204" pitchFamily="18" charset="0"/>
              </a:rPr>
              <a:t> – Zero coding needed, simple upload-and-use setup</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 </a:t>
            </a:r>
            <a:r>
              <a:rPr lang="en-US" sz="2200" b="1" dirty="0">
                <a:latin typeface="Cambria" panose="02040503050406030204" pitchFamily="18" charset="0"/>
                <a:ea typeface="Cambria" panose="02040503050406030204" pitchFamily="18" charset="0"/>
              </a:rPr>
              <a:t>Bridging feature gaps</a:t>
            </a:r>
            <a:r>
              <a:rPr lang="en-US" sz="2200" dirty="0">
                <a:latin typeface="Cambria" panose="02040503050406030204" pitchFamily="18" charset="0"/>
                <a:ea typeface="Cambria" panose="02040503050406030204" pitchFamily="18" charset="0"/>
              </a:rPr>
              <a:t> – Professional persistent cart and </a:t>
            </a:r>
            <a:r>
              <a:rPr lang="en-US" sz="2200" dirty="0" err="1">
                <a:latin typeface="Cambria" panose="02040503050406030204" pitchFamily="18" charset="0"/>
                <a:ea typeface="Cambria" panose="02040503050406030204" pitchFamily="18" charset="0"/>
              </a:rPr>
              <a:t>wishlist</a:t>
            </a:r>
            <a:r>
              <a:rPr lang="en-US" sz="2200" dirty="0">
                <a:latin typeface="Cambria" panose="02040503050406030204" pitchFamily="18" charset="0"/>
                <a:ea typeface="Cambria" panose="02040503050406030204" pitchFamily="18" charset="0"/>
              </a:rPr>
              <a:t> like Amazon</a:t>
            </a:r>
            <a:br>
              <a:rPr lang="en-US" sz="2200" dirty="0">
                <a:latin typeface="Cambria" panose="02040503050406030204" pitchFamily="18" charset="0"/>
                <a:ea typeface="Cambria" panose="02040503050406030204" pitchFamily="18" charset="0"/>
              </a:rPr>
            </a:br>
            <a:r>
              <a:rPr lang="en-US" sz="2200" dirty="0">
                <a:latin typeface="Cambria" panose="02040503050406030204" pitchFamily="18" charset="0"/>
                <a:ea typeface="Cambria" panose="02040503050406030204" pitchFamily="18" charset="0"/>
              </a:rPr>
              <a:t>• </a:t>
            </a:r>
            <a:r>
              <a:rPr lang="en-US" sz="2200" b="1" dirty="0">
                <a:latin typeface="Cambria" panose="02040503050406030204" pitchFamily="18" charset="0"/>
                <a:ea typeface="Cambria" panose="02040503050406030204" pitchFamily="18" charset="0"/>
              </a:rPr>
              <a:t>Solving accessibility issues</a:t>
            </a:r>
            <a:r>
              <a:rPr lang="en-US" sz="2200" dirty="0">
                <a:latin typeface="Cambria" panose="02040503050406030204" pitchFamily="18" charset="0"/>
                <a:ea typeface="Cambria" panose="02040503050406030204" pitchFamily="18" charset="0"/>
              </a:rPr>
              <a:t> – Fully responsive design working on all devices</a:t>
            </a:r>
          </a:p>
          <a:p>
            <a:endParaRPr lang="en-US" sz="2200" dirty="0">
              <a:latin typeface="Cambria" panose="02040503050406030204" pitchFamily="18" charset="0"/>
              <a:ea typeface="Cambria" panose="02040503050406030204" pitchFamily="18" charset="0"/>
            </a:endParaRPr>
          </a:p>
          <a:p>
            <a:pPr marL="285750" indent="-285750">
              <a:buFont typeface="Wingdings" panose="05000000000000000000" pitchFamily="2" charset="2"/>
              <a:buChar char="q"/>
            </a:pPr>
            <a:r>
              <a:rPr lang="en-US" sz="2200" dirty="0">
                <a:latin typeface="Cambria" panose="02040503050406030204" pitchFamily="18" charset="0"/>
                <a:ea typeface="Cambria" panose="02040503050406030204" pitchFamily="18" charset="0"/>
              </a:rPr>
              <a:t>   </a:t>
            </a:r>
            <a:r>
              <a:rPr lang="en-IN" sz="2200" b="1" dirty="0">
                <a:latin typeface="Cambria" panose="02040503050406030204" pitchFamily="18" charset="0"/>
                <a:ea typeface="Cambria" panose="02040503050406030204" pitchFamily="18" charset="0"/>
              </a:rPr>
              <a:t>Key Advantages -  </a:t>
            </a:r>
            <a:r>
              <a:rPr lang="en-IN" sz="2200" dirty="0">
                <a:latin typeface="Cambria" panose="02040503050406030204" pitchFamily="18" charset="0"/>
                <a:ea typeface="Cambria" panose="02040503050406030204" pitchFamily="18" charset="0"/>
              </a:rPr>
              <a:t>Zero cost , Easy setup , Complete features , Secure , Responsive  , Customizable</a:t>
            </a:r>
            <a:endParaRPr lang="en-US" sz="2200"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endParaRPr lang="en-IN" sz="2200" dirty="0">
              <a:latin typeface="Cambria" panose="02040503050406030204" pitchFamily="18" charset="0"/>
              <a:ea typeface="Cambria" panose="020405030504060302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FFC8CC3-E4CF-AD2C-EC77-5AF28A36F3EA}"/>
              </a:ext>
            </a:extLst>
          </p:cNvPr>
          <p:cNvGraphicFramePr>
            <a:graphicFrameLocks noGrp="1"/>
          </p:cNvGraphicFramePr>
          <p:nvPr>
            <p:extLst>
              <p:ext uri="{D42A27DB-BD31-4B8C-83A1-F6EECF244321}">
                <p14:modId xmlns:p14="http://schemas.microsoft.com/office/powerpoint/2010/main" val="2955218122"/>
              </p:ext>
            </p:extLst>
          </p:nvPr>
        </p:nvGraphicFramePr>
        <p:xfrm>
          <a:off x="9843822" y="4480957"/>
          <a:ext cx="8229600" cy="5478858"/>
        </p:xfrm>
        <a:graphic>
          <a:graphicData uri="http://schemas.openxmlformats.org/drawingml/2006/table">
            <a:tbl>
              <a:tblPr/>
              <a:tblGrid>
                <a:gridCol w="4114800">
                  <a:extLst>
                    <a:ext uri="{9D8B030D-6E8A-4147-A177-3AD203B41FA5}">
                      <a16:colId xmlns:a16="http://schemas.microsoft.com/office/drawing/2014/main" val="4200059001"/>
                    </a:ext>
                  </a:extLst>
                </a:gridCol>
                <a:gridCol w="4114800">
                  <a:extLst>
                    <a:ext uri="{9D8B030D-6E8A-4147-A177-3AD203B41FA5}">
                      <a16:colId xmlns:a16="http://schemas.microsoft.com/office/drawing/2014/main" val="2859516394"/>
                    </a:ext>
                  </a:extLst>
                </a:gridCol>
              </a:tblGrid>
              <a:tr h="582346">
                <a:tc>
                  <a:txBody>
                    <a:bodyPr/>
                    <a:lstStyle/>
                    <a:p>
                      <a:pPr algn="l">
                        <a:buNone/>
                      </a:pPr>
                      <a:r>
                        <a:rPr lang="en-IN" sz="2000" dirty="0">
                          <a:effectLst/>
                          <a:latin typeface="Cambria" panose="02040503050406030204" pitchFamily="18" charset="0"/>
                          <a:ea typeface="Cambria" panose="02040503050406030204" pitchFamily="18" charset="0"/>
                        </a:rPr>
                        <a:t>Component</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noFill/>
                  </a:tcPr>
                </a:tc>
                <a:tc>
                  <a:txBody>
                    <a:bodyPr/>
                    <a:lstStyle/>
                    <a:p>
                      <a:pPr algn="l">
                        <a:buNone/>
                      </a:pPr>
                      <a:r>
                        <a:rPr lang="en-IN" sz="2000">
                          <a:effectLst/>
                          <a:latin typeface="Cambria" panose="02040503050406030204" pitchFamily="18" charset="0"/>
                          <a:ea typeface="Cambria" panose="02040503050406030204" pitchFamily="18" charset="0"/>
                        </a:rPr>
                        <a:t>Definition</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noFill/>
                  </a:tcPr>
                </a:tc>
                <a:extLst>
                  <a:ext uri="{0D108BD9-81ED-4DB2-BD59-A6C34878D82A}">
                    <a16:rowId xmlns:a16="http://schemas.microsoft.com/office/drawing/2014/main" val="3792118211"/>
                  </a:ext>
                </a:extLst>
              </a:tr>
              <a:tr h="1007301">
                <a:tc>
                  <a:txBody>
                    <a:bodyPr/>
                    <a:lstStyle/>
                    <a:p>
                      <a:pPr algn="l">
                        <a:buNone/>
                      </a:pPr>
                      <a:r>
                        <a:rPr lang="en-IN" sz="2000">
                          <a:effectLst/>
                          <a:latin typeface="Cambria" panose="02040503050406030204" pitchFamily="18" charset="0"/>
                          <a:ea typeface="Cambria" panose="02040503050406030204" pitchFamily="18" charset="0"/>
                        </a:rPr>
                        <a:t>INPUT</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tc>
                  <a:txBody>
                    <a:bodyPr/>
                    <a:lstStyle/>
                    <a:p>
                      <a:pPr algn="l">
                        <a:buNone/>
                      </a:pPr>
                      <a:r>
                        <a:rPr lang="en-US" sz="2000">
                          <a:effectLst/>
                          <a:latin typeface="Cambria" panose="02040503050406030204" pitchFamily="18" charset="0"/>
                          <a:ea typeface="Cambria" panose="02040503050406030204" pitchFamily="18" charset="0"/>
                        </a:rPr>
                        <a:t>User actions like clicks, form submissions, and page requests that trigger the system</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extLst>
                  <a:ext uri="{0D108BD9-81ED-4DB2-BD59-A6C34878D82A}">
                    <a16:rowId xmlns:a16="http://schemas.microsoft.com/office/drawing/2014/main" val="1199439889"/>
                  </a:ext>
                </a:extLst>
              </a:tr>
              <a:tr h="1007301">
                <a:tc>
                  <a:txBody>
                    <a:bodyPr/>
                    <a:lstStyle/>
                    <a:p>
                      <a:pPr algn="l">
                        <a:buNone/>
                      </a:pPr>
                      <a:r>
                        <a:rPr lang="en-IN" sz="2000" dirty="0">
                          <a:effectLst/>
                          <a:latin typeface="Cambria" panose="02040503050406030204" pitchFamily="18" charset="0"/>
                          <a:ea typeface="Cambria" panose="02040503050406030204" pitchFamily="18" charset="0"/>
                        </a:rPr>
                        <a:t>PROCESSING</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a:buNone/>
                      </a:pPr>
                      <a:r>
                        <a:rPr lang="en-US" sz="2000">
                          <a:effectLst/>
                          <a:latin typeface="Cambria" panose="02040503050406030204" pitchFamily="18" charset="0"/>
                          <a:ea typeface="Cambria" panose="02040503050406030204" pitchFamily="18" charset="0"/>
                        </a:rPr>
                        <a:t>PHP logic that validates, calculates, and decides what action to take based on input</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4236162678"/>
                  </a:ext>
                </a:extLst>
              </a:tr>
              <a:tr h="1432256">
                <a:tc>
                  <a:txBody>
                    <a:bodyPr/>
                    <a:lstStyle/>
                    <a:p>
                      <a:pPr algn="l">
                        <a:buNone/>
                      </a:pPr>
                      <a:r>
                        <a:rPr lang="en-IN" sz="2000" dirty="0">
                          <a:effectLst/>
                          <a:latin typeface="Cambria" panose="02040503050406030204" pitchFamily="18" charset="0"/>
                          <a:ea typeface="Cambria" panose="02040503050406030204" pitchFamily="18" charset="0"/>
                        </a:rPr>
                        <a:t>DATABASE</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tc>
                  <a:txBody>
                    <a:bodyPr/>
                    <a:lstStyle/>
                    <a:p>
                      <a:pPr algn="l">
                        <a:buNone/>
                      </a:pPr>
                      <a:r>
                        <a:rPr lang="en-US" sz="2000">
                          <a:effectLst/>
                          <a:latin typeface="Cambria" panose="02040503050406030204" pitchFamily="18" charset="0"/>
                          <a:ea typeface="Cambria" panose="02040503050406030204" pitchFamily="18" charset="0"/>
                        </a:rPr>
                        <a:t>MySQL storage that permanently saves and retrieves user data, products, and wishlist items</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7FAFC"/>
                    </a:solidFill>
                  </a:tcPr>
                </a:tc>
                <a:extLst>
                  <a:ext uri="{0D108BD9-81ED-4DB2-BD59-A6C34878D82A}">
                    <a16:rowId xmlns:a16="http://schemas.microsoft.com/office/drawing/2014/main" val="453255678"/>
                  </a:ext>
                </a:extLst>
              </a:tr>
              <a:tr h="1432256">
                <a:tc>
                  <a:txBody>
                    <a:bodyPr/>
                    <a:lstStyle/>
                    <a:p>
                      <a:pPr algn="l">
                        <a:buNone/>
                      </a:pPr>
                      <a:r>
                        <a:rPr lang="en-IN" sz="2000">
                          <a:effectLst/>
                          <a:latin typeface="Cambria" panose="02040503050406030204" pitchFamily="18" charset="0"/>
                          <a:ea typeface="Cambria" panose="02040503050406030204" pitchFamily="18" charset="0"/>
                        </a:rPr>
                        <a:t>OUTPUT</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algn="l">
                        <a:buNone/>
                      </a:pPr>
                      <a:r>
                        <a:rPr lang="en-US" sz="2000" dirty="0">
                          <a:effectLst/>
                          <a:latin typeface="Cambria" panose="02040503050406030204" pitchFamily="18" charset="0"/>
                          <a:ea typeface="Cambria" panose="02040503050406030204" pitchFamily="18" charset="0"/>
                        </a:rPr>
                        <a:t>Dynamic HTML pages, success/error messages, and updated content displayed to user</a:t>
                      </a:r>
                    </a:p>
                  </a:txBody>
                  <a:tcPr marL="50800" marR="50800" marT="50800" marB="508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2445973469"/>
                  </a:ext>
                </a:extLst>
              </a:tr>
            </a:tbl>
          </a:graphicData>
        </a:graphic>
      </p:graphicFrame>
      <p:pic>
        <p:nvPicPr>
          <p:cNvPr id="32" name="Picture 31">
            <a:extLst>
              <a:ext uri="{FF2B5EF4-FFF2-40B4-BE49-F238E27FC236}">
                <a16:creationId xmlns:a16="http://schemas.microsoft.com/office/drawing/2014/main" id="{07C0F83E-EAF6-5943-7656-95E41CA7F49E}"/>
              </a:ext>
            </a:extLst>
          </p:cNvPr>
          <p:cNvPicPr>
            <a:picLocks noChangeAspect="1"/>
          </p:cNvPicPr>
          <p:nvPr/>
        </p:nvPicPr>
        <p:blipFill>
          <a:blip r:embed="rId4"/>
          <a:stretch>
            <a:fillRect/>
          </a:stretch>
        </p:blipFill>
        <p:spPr>
          <a:xfrm>
            <a:off x="1794863" y="1638300"/>
            <a:ext cx="7759166" cy="52848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9" name="Picture 8">
            <a:extLst>
              <a:ext uri="{FF2B5EF4-FFF2-40B4-BE49-F238E27FC236}">
                <a16:creationId xmlns:a16="http://schemas.microsoft.com/office/drawing/2014/main" id="{0D0C8D7D-9C93-401E-1EAF-EF13CF4554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05087" y="1485900"/>
            <a:ext cx="13077825" cy="73152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6986528"/>
          </a:xfrm>
          <a:prstGeom prst="rect">
            <a:avLst/>
          </a:prstGeom>
          <a:noFill/>
        </p:spPr>
        <p:txBody>
          <a:bodyPr wrap="square" rtlCol="0">
            <a:spAutoFit/>
          </a:bodyPr>
          <a:lstStyle/>
          <a:p>
            <a:pPr marL="457200" indent="-457200">
              <a:buFont typeface="Wingdings" panose="05000000000000000000" pitchFamily="2" charset="2"/>
              <a:buChar char="q"/>
            </a:pPr>
            <a:r>
              <a:rPr lang="en-IN" sz="2600" b="1" dirty="0">
                <a:latin typeface="Cambria" panose="02040503050406030204" pitchFamily="18" charset="0"/>
                <a:ea typeface="Cambria" panose="02040503050406030204" pitchFamily="18" charset="0"/>
              </a:rPr>
              <a:t>FRONTEND – HTML5 , CSS , JavaScript</a:t>
            </a:r>
          </a:p>
          <a:p>
            <a:endParaRPr lang="en-IN" sz="2600" b="1"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N" sz="2600" b="1" dirty="0">
                <a:latin typeface="Cambria" panose="02040503050406030204" pitchFamily="18" charset="0"/>
                <a:ea typeface="Cambria" panose="02040503050406030204" pitchFamily="18" charset="0"/>
              </a:rPr>
              <a:t>BACKEND -  PHP</a:t>
            </a:r>
          </a:p>
          <a:p>
            <a:pPr marL="457200" indent="-457200">
              <a:buFont typeface="Wingdings" panose="05000000000000000000" pitchFamily="2" charset="2"/>
              <a:buChar char="q"/>
            </a:pPr>
            <a:endParaRPr lang="en-IN" sz="2600" b="1"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N" sz="2600" b="1" dirty="0">
                <a:latin typeface="Cambria" panose="02040503050406030204" pitchFamily="18" charset="0"/>
                <a:ea typeface="Cambria" panose="02040503050406030204" pitchFamily="18" charset="0"/>
              </a:rPr>
              <a:t>DATABASE – MySQL (phpMyAdmin)</a:t>
            </a:r>
          </a:p>
          <a:p>
            <a:pPr marL="457200" indent="-457200">
              <a:buFont typeface="Wingdings" panose="05000000000000000000" pitchFamily="2" charset="2"/>
              <a:buChar char="q"/>
            </a:pPr>
            <a:endParaRPr lang="en-IN" sz="2600" b="1"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N" sz="2600" b="1" dirty="0">
                <a:latin typeface="Cambria" panose="02040503050406030204" pitchFamily="18" charset="0"/>
                <a:ea typeface="Cambria" panose="02040503050406030204" pitchFamily="18" charset="0"/>
              </a:rPr>
              <a:t>TOOLS – XAMPP , Visual Studio Code , Google Chrome</a:t>
            </a:r>
          </a:p>
          <a:p>
            <a:pPr marL="457200" indent="-457200">
              <a:buFont typeface="Wingdings" panose="05000000000000000000" pitchFamily="2" charset="2"/>
              <a:buChar char="q"/>
            </a:pPr>
            <a:endParaRPr lang="en-IN" sz="2600" b="1"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N" sz="2600" b="1" dirty="0">
                <a:latin typeface="Cambria" panose="02040503050406030204" pitchFamily="18" charset="0"/>
                <a:ea typeface="Cambria" panose="02040503050406030204" pitchFamily="18" charset="0"/>
              </a:rPr>
              <a:t>HARDWARE REQUIREMENTS -  Intel Core i3 Processor, 4GB RAM </a:t>
            </a:r>
          </a:p>
          <a:p>
            <a:endParaRPr lang="en-IN" sz="2600" b="1" dirty="0">
              <a:latin typeface="Cambria" panose="02040503050406030204" pitchFamily="18" charset="0"/>
              <a:ea typeface="Cambria" panose="02040503050406030204" pitchFamily="18" charset="0"/>
            </a:endParaRPr>
          </a:p>
          <a:p>
            <a:pPr marL="457200" indent="-457200">
              <a:buFont typeface="Wingdings" panose="05000000000000000000" pitchFamily="2" charset="2"/>
              <a:buChar char="q"/>
            </a:pPr>
            <a:r>
              <a:rPr lang="en-IN" sz="2600" b="1" dirty="0">
                <a:latin typeface="Cambria" panose="02040503050406030204" pitchFamily="18" charset="0"/>
                <a:ea typeface="Cambria" panose="02040503050406030204" pitchFamily="18" charset="0"/>
              </a:rPr>
              <a:t>SOFTWARE REQUIREMENTS - Windows/Linux/macOS , Apache Server , PHP 7.4+ , MySQL 5.7+ , </a:t>
            </a:r>
            <a:r>
              <a:rPr lang="en-US" sz="2600" b="1" dirty="0">
                <a:latin typeface="Cambria" panose="02040503050406030204" pitchFamily="18" charset="0"/>
                <a:ea typeface="Cambria" panose="02040503050406030204" pitchFamily="18" charset="0"/>
              </a:rPr>
              <a:t>Web Browser (Chrome/Firefox/Edge)</a:t>
            </a:r>
            <a:br>
              <a:rPr lang="en-US" dirty="0"/>
            </a:br>
            <a:endParaRPr lang="en-IN" dirty="0"/>
          </a:p>
          <a:p>
            <a:pPr marL="457200" indent="-457200">
              <a:buFont typeface="Wingdings" panose="05000000000000000000" pitchFamily="2" charset="2"/>
              <a:buChar char="q"/>
            </a:pPr>
            <a:endParaRPr lang="en-IN" dirty="0"/>
          </a:p>
          <a:p>
            <a:pPr marL="457200" indent="-457200">
              <a:buFont typeface="Wingdings" panose="05000000000000000000" pitchFamily="2" charset="2"/>
              <a:buChar char="q"/>
            </a:pPr>
            <a:endParaRPr lang="en-IN" dirty="0"/>
          </a:p>
          <a:p>
            <a:br>
              <a:rPr lang="en-IN" dirty="0"/>
            </a:br>
            <a:endParaRPr lang="en-IN" dirty="0"/>
          </a:p>
          <a:p>
            <a:pPr marL="457200" indent="-457200">
              <a:buFont typeface="Wingdings" panose="05000000000000000000" pitchFamily="2" charset="2"/>
              <a:buChar char="q"/>
            </a:pPr>
            <a:endParaRPr lang="en-IN" b="1" dirty="0"/>
          </a:p>
          <a:p>
            <a:pPr marL="457200" indent="-457200">
              <a:buFont typeface="Wingdings" panose="05000000000000000000" pitchFamily="2" charset="2"/>
              <a:buChar char="q"/>
            </a:pPr>
            <a:endParaRPr lang="en-IN" sz="2800" dirty="0">
              <a:latin typeface="Cambria" panose="02040503050406030204" pitchFamily="18" charset="0"/>
              <a:ea typeface="Cambria" panose="020405030504060302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6986528"/>
          </a:xfrm>
          <a:prstGeom prst="rect">
            <a:avLst/>
          </a:prstGeom>
          <a:noFill/>
        </p:spPr>
        <p:txBody>
          <a:bodyPr wrap="square" rtlCol="0">
            <a:spAutoFit/>
          </a:bodyPr>
          <a:lstStyle/>
          <a:p>
            <a:endParaRPr lang="en-IN" sz="2800" dirty="0"/>
          </a:p>
          <a:p>
            <a:endParaRPr lang="en-IN" sz="2800" dirty="0"/>
          </a:p>
          <a:p>
            <a:endParaRPr lang="en-IN" sz="2800" dirty="0"/>
          </a:p>
          <a:p>
            <a:endParaRPr lang="en-IN" sz="2800" dirty="0"/>
          </a:p>
          <a:p>
            <a:r>
              <a:rPr lang="en-US" sz="2800" b="1" dirty="0"/>
              <a:t>Module 1: User Management &amp; Authentication</a:t>
            </a:r>
            <a:r>
              <a:rPr lang="en-US" sz="2800" dirty="0"/>
              <a:t> Handles user registration, login, and secure session management using frontend validation and backend authentication.</a:t>
            </a:r>
          </a:p>
          <a:p>
            <a:endParaRPr lang="en-US" sz="2800" dirty="0"/>
          </a:p>
          <a:p>
            <a:r>
              <a:rPr lang="en-US" sz="2800" b="1" dirty="0"/>
              <a:t>Module 2: Product &amp; Catalog Management</a:t>
            </a:r>
            <a:r>
              <a:rPr lang="en-US" sz="2800" dirty="0"/>
              <a:t> Manages the retrieval and display of product details, including names, prices, images, and stock levels from the database.</a:t>
            </a:r>
          </a:p>
          <a:p>
            <a:endParaRPr lang="en-US" sz="2800" dirty="0"/>
          </a:p>
          <a:p>
            <a:r>
              <a:rPr lang="en-US" sz="2800" b="1" dirty="0"/>
              <a:t>Module 3: Core Transactional Processing</a:t>
            </a:r>
            <a:r>
              <a:rPr lang="en-US" sz="2800" dirty="0"/>
              <a:t> Implements the main business logic for cart management, </a:t>
            </a:r>
            <a:r>
              <a:rPr lang="en-US" sz="2800" dirty="0" err="1"/>
              <a:t>wishlist</a:t>
            </a:r>
            <a:r>
              <a:rPr lang="en-US" sz="2800" dirty="0"/>
              <a:t> updates, and real-time subtotal calculations.</a:t>
            </a:r>
          </a:p>
          <a:p>
            <a:endParaRPr lang="en-US" sz="2800" dirty="0"/>
          </a:p>
          <a:p>
            <a:r>
              <a:rPr lang="en-US" sz="2800" b="1" dirty="0"/>
              <a:t>Module 4: Database &amp; Security Logic</a:t>
            </a:r>
            <a:r>
              <a:rPr lang="en-US" sz="2800" dirty="0"/>
              <a:t> Ensures data integrity and security through SQL sanitization, database CRUD operations, and dynamic page generation.</a:t>
            </a:r>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5693866"/>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r>
              <a:rPr lang="en-IN" sz="2800" dirty="0"/>
              <a:t>v</a:t>
            </a:r>
          </a:p>
        </p:txBody>
      </p:sp>
      <p:sp>
        <p:nvSpPr>
          <p:cNvPr id="41" name="TextBox 40">
            <a:extLst>
              <a:ext uri="{FF2B5EF4-FFF2-40B4-BE49-F238E27FC236}">
                <a16:creationId xmlns:a16="http://schemas.microsoft.com/office/drawing/2014/main" id="{D52E9303-E66E-602F-D954-98096C113917}"/>
              </a:ext>
            </a:extLst>
          </p:cNvPr>
          <p:cNvSpPr txBox="1"/>
          <p:nvPr/>
        </p:nvSpPr>
        <p:spPr>
          <a:xfrm>
            <a:off x="12420601" y="3140933"/>
            <a:ext cx="4191000" cy="1815882"/>
          </a:xfrm>
          <a:prstGeom prst="rect">
            <a:avLst/>
          </a:prstGeom>
          <a:noFill/>
        </p:spPr>
        <p:txBody>
          <a:bodyPr wrap="square" rtlCol="0">
            <a:spAutoFit/>
          </a:bodyPr>
          <a:lstStyle/>
          <a:p>
            <a:r>
              <a:rPr lang="en-IN" sz="2800" b="1" dirty="0">
                <a:latin typeface="Cambria" panose="02040503050406030204" pitchFamily="18" charset="0"/>
                <a:ea typeface="Cambria" panose="02040503050406030204" pitchFamily="18" charset="0"/>
              </a:rPr>
              <a:t>Home Page </a:t>
            </a:r>
            <a:r>
              <a:rPr lang="en-IN" sz="2800" dirty="0">
                <a:latin typeface="Cambria" panose="02040503050406030204" pitchFamily="18" charset="0"/>
                <a:ea typeface="Cambria" panose="02040503050406030204" pitchFamily="18" charset="0"/>
              </a:rPr>
              <a:t>– Launches the Website and displays the overview of the website features   </a:t>
            </a:r>
          </a:p>
        </p:txBody>
      </p:sp>
      <p:pic>
        <p:nvPicPr>
          <p:cNvPr id="6" name="Picture 5">
            <a:extLst>
              <a:ext uri="{FF2B5EF4-FFF2-40B4-BE49-F238E27FC236}">
                <a16:creationId xmlns:a16="http://schemas.microsoft.com/office/drawing/2014/main" id="{BD052B62-BC55-4932-E72D-69493E289F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43149" y="5692435"/>
            <a:ext cx="8248652" cy="4092683"/>
          </a:xfrm>
          <a:prstGeom prst="rect">
            <a:avLst/>
          </a:prstGeom>
        </p:spPr>
      </p:pic>
      <p:pic>
        <p:nvPicPr>
          <p:cNvPr id="42" name="Picture 41">
            <a:extLst>
              <a:ext uri="{FF2B5EF4-FFF2-40B4-BE49-F238E27FC236}">
                <a16:creationId xmlns:a16="http://schemas.microsoft.com/office/drawing/2014/main" id="{5D11C69B-C0AB-F837-3D37-1A4EF98A77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43150" y="1265171"/>
            <a:ext cx="8248652" cy="4113073"/>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dirty="0"/>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A4BFA958-6F7C-9EE7-D250-613017ED6968}"/>
              </a:ext>
            </a:extLst>
          </p:cNvPr>
          <p:cNvSpPr txBox="1"/>
          <p:nvPr/>
        </p:nvSpPr>
        <p:spPr>
          <a:xfrm>
            <a:off x="9693326" y="2681228"/>
            <a:ext cx="7328847" cy="1384995"/>
          </a:xfrm>
          <a:prstGeom prst="rect">
            <a:avLst/>
          </a:prstGeom>
          <a:noFill/>
        </p:spPr>
        <p:txBody>
          <a:bodyPr wrap="square" rtlCol="0">
            <a:spAutoFit/>
          </a:bodyPr>
          <a:lstStyle/>
          <a:p>
            <a:r>
              <a:rPr lang="en-IN" sz="2800" b="1" dirty="0">
                <a:latin typeface="Cambria" panose="02040503050406030204" pitchFamily="18" charset="0"/>
                <a:ea typeface="Cambria" panose="02040503050406030204" pitchFamily="18" charset="0"/>
              </a:rPr>
              <a:t>Register &amp; Login Pages  </a:t>
            </a:r>
            <a:r>
              <a:rPr lang="en-IN" sz="2800" dirty="0">
                <a:latin typeface="Cambria" panose="02040503050406030204" pitchFamily="18" charset="0"/>
                <a:ea typeface="Cambria" panose="02040503050406030204" pitchFamily="18" charset="0"/>
              </a:rPr>
              <a:t>-  Helps the user to create an account and login into it to keep a track of his orders,</a:t>
            </a:r>
            <a:r>
              <a:rPr lang="en-IN" sz="2800" dirty="0" err="1">
                <a:latin typeface="Cambria" panose="02040503050406030204" pitchFamily="18" charset="0"/>
                <a:ea typeface="Cambria" panose="02040503050406030204" pitchFamily="18" charset="0"/>
              </a:rPr>
              <a:t>wishlist</a:t>
            </a:r>
            <a:r>
              <a:rPr lang="en-IN" sz="2800" dirty="0">
                <a:latin typeface="Cambria" panose="02040503050406030204" pitchFamily="18" charset="0"/>
                <a:ea typeface="Cambria" panose="02040503050406030204" pitchFamily="18" charset="0"/>
              </a:rPr>
              <a:t>,,</a:t>
            </a:r>
            <a:r>
              <a:rPr lang="en-IN" sz="2800" dirty="0" err="1">
                <a:latin typeface="Cambria" panose="02040503050406030204" pitchFamily="18" charset="0"/>
                <a:ea typeface="Cambria" panose="02040503050406030204" pitchFamily="18" charset="0"/>
              </a:rPr>
              <a:t>interests,etc</a:t>
            </a:r>
            <a:endParaRPr lang="en-IN" sz="2800"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51DC94AF-86BD-5D9B-EB07-0470E3580C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70048" y="1562099"/>
            <a:ext cx="7270736" cy="3789651"/>
          </a:xfrm>
          <a:prstGeom prst="rect">
            <a:avLst/>
          </a:prstGeom>
        </p:spPr>
      </p:pic>
      <p:pic>
        <p:nvPicPr>
          <p:cNvPr id="40" name="Picture 39">
            <a:extLst>
              <a:ext uri="{FF2B5EF4-FFF2-40B4-BE49-F238E27FC236}">
                <a16:creationId xmlns:a16="http://schemas.microsoft.com/office/drawing/2014/main" id="{C58163F3-5D71-7E64-63DB-15F4DC7A7B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70048" y="5524500"/>
            <a:ext cx="7270737" cy="3681412"/>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8991600" y="6318379"/>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4" name="TextBox 3">
            <a:extLst>
              <a:ext uri="{FF2B5EF4-FFF2-40B4-BE49-F238E27FC236}">
                <a16:creationId xmlns:a16="http://schemas.microsoft.com/office/drawing/2014/main" id="{5254ED3F-39D9-A7F4-B13A-314D7C0A3971}"/>
              </a:ext>
            </a:extLst>
          </p:cNvPr>
          <p:cNvSpPr txBox="1"/>
          <p:nvPr/>
        </p:nvSpPr>
        <p:spPr>
          <a:xfrm>
            <a:off x="1580256" y="1173897"/>
            <a:ext cx="6705600" cy="1292662"/>
          </a:xfrm>
          <a:prstGeom prst="rect">
            <a:avLst/>
          </a:prstGeom>
          <a:noFill/>
        </p:spPr>
        <p:txBody>
          <a:bodyPr wrap="square" rtlCol="0">
            <a:spAutoFit/>
          </a:bodyPr>
          <a:lstStyle/>
          <a:p>
            <a:r>
              <a:rPr lang="en-IN" sz="2600" b="1" dirty="0">
                <a:latin typeface="Cambria" panose="02040503050406030204" pitchFamily="18" charset="0"/>
                <a:ea typeface="Cambria" panose="02040503050406030204" pitchFamily="18" charset="0"/>
              </a:rPr>
              <a:t>Products Page </a:t>
            </a:r>
            <a:r>
              <a:rPr lang="en-IN" sz="2600" dirty="0">
                <a:latin typeface="Cambria" panose="02040503050406030204" pitchFamily="18" charset="0"/>
                <a:ea typeface="Cambria" panose="02040503050406030204" pitchFamily="18" charset="0"/>
              </a:rPr>
              <a:t>– Displays the products available in the website along with their price, stock available or not  along with its image.</a:t>
            </a:r>
          </a:p>
        </p:txBody>
      </p:sp>
      <p:sp>
        <p:nvSpPr>
          <p:cNvPr id="40" name="TextBox 39">
            <a:extLst>
              <a:ext uri="{FF2B5EF4-FFF2-40B4-BE49-F238E27FC236}">
                <a16:creationId xmlns:a16="http://schemas.microsoft.com/office/drawing/2014/main" id="{010017BD-BEFD-7D20-F8D8-CCAAE240B4AA}"/>
              </a:ext>
            </a:extLst>
          </p:cNvPr>
          <p:cNvSpPr txBox="1"/>
          <p:nvPr/>
        </p:nvSpPr>
        <p:spPr>
          <a:xfrm>
            <a:off x="1728050" y="7793962"/>
            <a:ext cx="7315199" cy="1815882"/>
          </a:xfrm>
          <a:prstGeom prst="rect">
            <a:avLst/>
          </a:prstGeom>
          <a:noFill/>
        </p:spPr>
        <p:txBody>
          <a:bodyPr wrap="square" rtlCol="0">
            <a:spAutoFit/>
          </a:bodyPr>
          <a:lstStyle/>
          <a:p>
            <a:r>
              <a:rPr lang="en-IN" sz="2800" b="1" dirty="0">
                <a:latin typeface="Cambria" panose="02040503050406030204" pitchFamily="18" charset="0"/>
                <a:ea typeface="Cambria" panose="02040503050406030204" pitchFamily="18" charset="0"/>
              </a:rPr>
              <a:t>Cart Page </a:t>
            </a:r>
            <a:r>
              <a:rPr lang="en-IN" sz="2800" dirty="0">
                <a:latin typeface="Cambria" panose="02040503050406030204" pitchFamily="18" charset="0"/>
                <a:ea typeface="Cambria" panose="02040503050406030204" pitchFamily="18" charset="0"/>
              </a:rPr>
              <a:t>– Enables the user to add the products into the cart , review them before placing order for it like change the quantity of the product, removing the product .</a:t>
            </a:r>
          </a:p>
        </p:txBody>
      </p:sp>
      <p:pic>
        <p:nvPicPr>
          <p:cNvPr id="41" name="Picture 40">
            <a:extLst>
              <a:ext uri="{FF2B5EF4-FFF2-40B4-BE49-F238E27FC236}">
                <a16:creationId xmlns:a16="http://schemas.microsoft.com/office/drawing/2014/main" id="{47BAFA65-0642-5321-E443-7DDC0A12EB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56808" y="2721222"/>
            <a:ext cx="6882391" cy="4419350"/>
          </a:xfrm>
          <a:prstGeom prst="rect">
            <a:avLst/>
          </a:prstGeom>
        </p:spPr>
      </p:pic>
      <p:pic>
        <p:nvPicPr>
          <p:cNvPr id="45" name="Picture 44">
            <a:extLst>
              <a:ext uri="{FF2B5EF4-FFF2-40B4-BE49-F238E27FC236}">
                <a16:creationId xmlns:a16="http://schemas.microsoft.com/office/drawing/2014/main" id="{B2B34341-8937-7DEB-1749-37C395C42C6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865164" y="2721222"/>
            <a:ext cx="6945212" cy="6003679"/>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4832092"/>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p:txBody>
      </p:sp>
      <p:sp>
        <p:nvSpPr>
          <p:cNvPr id="39" name="TextBox 38">
            <a:extLst>
              <a:ext uri="{FF2B5EF4-FFF2-40B4-BE49-F238E27FC236}">
                <a16:creationId xmlns:a16="http://schemas.microsoft.com/office/drawing/2014/main" id="{651DFEFA-4858-B395-2271-B7ED1D62BBAC}"/>
              </a:ext>
            </a:extLst>
          </p:cNvPr>
          <p:cNvSpPr txBox="1"/>
          <p:nvPr/>
        </p:nvSpPr>
        <p:spPr>
          <a:xfrm>
            <a:off x="9317628" y="6555420"/>
            <a:ext cx="7826575" cy="2246769"/>
          </a:xfrm>
          <a:prstGeom prst="rect">
            <a:avLst/>
          </a:prstGeom>
          <a:noFill/>
        </p:spPr>
        <p:txBody>
          <a:bodyPr wrap="square" rtlCol="0">
            <a:spAutoFit/>
          </a:bodyPr>
          <a:lstStyle/>
          <a:p>
            <a:r>
              <a:rPr lang="en-IN" sz="2800" b="1" dirty="0">
                <a:latin typeface="Cambria" panose="02040503050406030204" pitchFamily="18" charset="0"/>
                <a:ea typeface="Cambria" panose="02040503050406030204" pitchFamily="18" charset="0"/>
              </a:rPr>
              <a:t> </a:t>
            </a:r>
            <a:endParaRPr lang="en-IN" sz="2800" dirty="0">
              <a:latin typeface="Cambria" panose="02040503050406030204" pitchFamily="18" charset="0"/>
              <a:ea typeface="Cambria" panose="02040503050406030204" pitchFamily="18" charset="0"/>
            </a:endParaRPr>
          </a:p>
          <a:p>
            <a:endParaRPr lang="en-IN" sz="2800" dirty="0">
              <a:latin typeface="Cambria" panose="02040503050406030204" pitchFamily="18" charset="0"/>
              <a:ea typeface="Cambria" panose="02040503050406030204" pitchFamily="18" charset="0"/>
            </a:endParaRPr>
          </a:p>
          <a:p>
            <a:r>
              <a:rPr lang="en-IN" sz="2800" b="1" dirty="0">
                <a:latin typeface="Cambria" panose="02040503050406030204" pitchFamily="18" charset="0"/>
                <a:ea typeface="Cambria" panose="02040503050406030204" pitchFamily="18" charset="0"/>
              </a:rPr>
              <a:t>Payment Page </a:t>
            </a:r>
            <a:r>
              <a:rPr lang="en-IN" sz="2800" dirty="0">
                <a:latin typeface="Cambria" panose="02040503050406030204" pitchFamily="18" charset="0"/>
                <a:ea typeface="Cambria" panose="02040503050406030204" pitchFamily="18" charset="0"/>
              </a:rPr>
              <a:t>– It helps the user to place the order by completing the payment, here we show it as a demo feature .</a:t>
            </a:r>
          </a:p>
        </p:txBody>
      </p:sp>
      <p:pic>
        <p:nvPicPr>
          <p:cNvPr id="41" name="Picture 40">
            <a:extLst>
              <a:ext uri="{FF2B5EF4-FFF2-40B4-BE49-F238E27FC236}">
                <a16:creationId xmlns:a16="http://schemas.microsoft.com/office/drawing/2014/main" id="{D72D4432-626A-CE51-9235-4F1B868437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1095" y="2015465"/>
            <a:ext cx="7403489" cy="6961847"/>
          </a:xfrm>
          <a:prstGeom prst="rect">
            <a:avLst/>
          </a:prstGeom>
        </p:spPr>
      </p:pic>
      <p:pic>
        <p:nvPicPr>
          <p:cNvPr id="45" name="Picture 44">
            <a:extLst>
              <a:ext uri="{FF2B5EF4-FFF2-40B4-BE49-F238E27FC236}">
                <a16:creationId xmlns:a16="http://schemas.microsoft.com/office/drawing/2014/main" id="{19F47673-D69B-7871-17C3-C8370C7253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049000" y="1695376"/>
            <a:ext cx="3941184" cy="5302662"/>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306D49E-BE02-0A18-DD8A-BE64B12B917C}"/>
              </a:ext>
            </a:extLst>
          </p:cNvPr>
          <p:cNvSpPr txBox="1"/>
          <p:nvPr/>
        </p:nvSpPr>
        <p:spPr>
          <a:xfrm>
            <a:off x="2246404" y="1820273"/>
            <a:ext cx="14050370" cy="7478970"/>
          </a:xfrm>
          <a:prstGeom prst="rect">
            <a:avLst/>
          </a:prstGeom>
          <a:noFill/>
        </p:spPr>
        <p:txBody>
          <a:bodyPr wrap="square">
            <a:spAutoFit/>
          </a:bodyPr>
          <a:lstStyle/>
          <a:p>
            <a:pPr algn="just">
              <a:buNone/>
            </a:pPr>
            <a:r>
              <a:rPr lang="en-US" sz="2000" b="1" dirty="0">
                <a:latin typeface="Cambria" panose="02040503050406030204" pitchFamily="18" charset="0"/>
                <a:ea typeface="Cambria" panose="02040503050406030204" pitchFamily="18" charset="0"/>
              </a:rPr>
              <a:t>Advantages </a:t>
            </a:r>
          </a:p>
          <a:p>
            <a:pPr algn="just">
              <a:buNone/>
            </a:pPr>
            <a:endParaRPr lang="en-US" sz="2000" dirty="0">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000" b="1" dirty="0">
                <a:latin typeface="Cambria" panose="02040503050406030204" pitchFamily="18" charset="0"/>
                <a:ea typeface="Cambria" panose="02040503050406030204" pitchFamily="18" charset="0"/>
              </a:rPr>
              <a:t>Secure Data Handling:</a:t>
            </a:r>
            <a:r>
              <a:rPr lang="en-US" sz="2000" dirty="0">
                <a:latin typeface="Cambria" panose="02040503050406030204" pitchFamily="18" charset="0"/>
                <a:ea typeface="Cambria" panose="02040503050406030204" pitchFamily="18" charset="0"/>
              </a:rPr>
              <a:t> Protects user information through server-side sanitization and hashed passwords to prevent SQL injection.</a:t>
            </a:r>
          </a:p>
          <a:p>
            <a:pPr algn="just">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000" b="1" dirty="0">
                <a:latin typeface="Cambria" panose="02040503050406030204" pitchFamily="18" charset="0"/>
                <a:ea typeface="Cambria" panose="02040503050406030204" pitchFamily="18" charset="0"/>
              </a:rPr>
              <a:t>Real-time Validation:</a:t>
            </a:r>
            <a:r>
              <a:rPr lang="en-US" sz="2000" dirty="0">
                <a:latin typeface="Cambria" panose="02040503050406030204" pitchFamily="18" charset="0"/>
                <a:ea typeface="Cambria" panose="02040503050406030204" pitchFamily="18" charset="0"/>
              </a:rPr>
              <a:t> Enhances user experience with immediate feedback on form errors before data is even submitted to the server.</a:t>
            </a:r>
          </a:p>
          <a:p>
            <a:pPr algn="just">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000" b="1" dirty="0">
                <a:latin typeface="Cambria" panose="02040503050406030204" pitchFamily="18" charset="0"/>
                <a:ea typeface="Cambria" panose="02040503050406030204" pitchFamily="18" charset="0"/>
              </a:rPr>
              <a:t>Efficient Logic:</a:t>
            </a:r>
            <a:r>
              <a:rPr lang="en-US" sz="2000" dirty="0">
                <a:latin typeface="Cambria" panose="02040503050406030204" pitchFamily="18" charset="0"/>
                <a:ea typeface="Cambria" panose="02040503050406030204" pitchFamily="18" charset="0"/>
              </a:rPr>
              <a:t> Streamlines the shopping process with a dedicated controller layer for seamless cart and </a:t>
            </a:r>
            <a:r>
              <a:rPr lang="en-US" sz="2000" dirty="0" err="1">
                <a:latin typeface="Cambria" panose="02040503050406030204" pitchFamily="18" charset="0"/>
                <a:ea typeface="Cambria" panose="02040503050406030204" pitchFamily="18" charset="0"/>
              </a:rPr>
              <a:t>wishlist</a:t>
            </a:r>
            <a:r>
              <a:rPr lang="en-US" sz="2000" dirty="0">
                <a:latin typeface="Cambria" panose="02040503050406030204" pitchFamily="18" charset="0"/>
                <a:ea typeface="Cambria" panose="02040503050406030204" pitchFamily="18" charset="0"/>
              </a:rPr>
              <a:t> management.</a:t>
            </a:r>
          </a:p>
          <a:p>
            <a:pPr algn="just">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000" b="1" dirty="0">
                <a:latin typeface="Cambria" panose="02040503050406030204" pitchFamily="18" charset="0"/>
                <a:ea typeface="Cambria" panose="02040503050406030204" pitchFamily="18" charset="0"/>
              </a:rPr>
              <a:t>Responsive Design:</a:t>
            </a:r>
            <a:r>
              <a:rPr lang="en-US" sz="2000" dirty="0">
                <a:latin typeface="Cambria" panose="02040503050406030204" pitchFamily="18" charset="0"/>
                <a:ea typeface="Cambria" panose="02040503050406030204" pitchFamily="18" charset="0"/>
              </a:rPr>
              <a:t> Ensures the system architecture supports a fluid "User View" across both desktop and mobile devices.</a:t>
            </a:r>
          </a:p>
          <a:p>
            <a:pPr algn="just">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algn="just">
              <a:buNone/>
            </a:pPr>
            <a:r>
              <a:rPr lang="en-US" sz="2000" b="1" dirty="0">
                <a:latin typeface="Cambria" panose="02040503050406030204" pitchFamily="18" charset="0"/>
                <a:ea typeface="Cambria" panose="02040503050406030204" pitchFamily="18" charset="0"/>
              </a:rPr>
              <a:t>Limitations </a:t>
            </a:r>
          </a:p>
          <a:p>
            <a:pPr algn="just">
              <a:buNone/>
            </a:pPr>
            <a:endParaRPr lang="en-US" sz="2000" dirty="0">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000" b="1" dirty="0">
                <a:latin typeface="Cambria" panose="02040503050406030204" pitchFamily="18" charset="0"/>
                <a:ea typeface="Cambria" panose="02040503050406030204" pitchFamily="18" charset="0"/>
              </a:rPr>
              <a:t>Payment Integration:</a:t>
            </a:r>
            <a:r>
              <a:rPr lang="en-US" sz="2000" dirty="0">
                <a:latin typeface="Cambria" panose="02040503050406030204" pitchFamily="18" charset="0"/>
                <a:ea typeface="Cambria" panose="02040503050406030204" pitchFamily="18" charset="0"/>
              </a:rPr>
              <a:t> Currently focuses on frontend/backend workflow and does not include a live third-party payment gateway.</a:t>
            </a:r>
          </a:p>
          <a:p>
            <a:pPr algn="just">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000" b="1" dirty="0">
                <a:latin typeface="Cambria" panose="02040503050406030204" pitchFamily="18" charset="0"/>
                <a:ea typeface="Cambria" panose="02040503050406030204" pitchFamily="18" charset="0"/>
              </a:rPr>
              <a:t>Advanced Analytics:</a:t>
            </a:r>
            <a:r>
              <a:rPr lang="en-US" sz="2000" dirty="0">
                <a:latin typeface="Cambria" panose="02040503050406030204" pitchFamily="18" charset="0"/>
                <a:ea typeface="Cambria" panose="02040503050406030204" pitchFamily="18" charset="0"/>
              </a:rPr>
              <a:t> While it generates dynamic pages, it lacks deep AI-driven insights for personalized user recommendations.</a:t>
            </a:r>
          </a:p>
          <a:p>
            <a:pPr algn="just">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000" b="1" dirty="0">
                <a:latin typeface="Cambria" panose="02040503050406030204" pitchFamily="18" charset="0"/>
                <a:ea typeface="Cambria" panose="02040503050406030204" pitchFamily="18" charset="0"/>
              </a:rPr>
              <a:t>Scale Constraints:</a:t>
            </a:r>
            <a:r>
              <a:rPr lang="en-US" sz="2000" dirty="0">
                <a:latin typeface="Cambria" panose="02040503050406030204" pitchFamily="18" charset="0"/>
                <a:ea typeface="Cambria" panose="02040503050406030204" pitchFamily="18" charset="0"/>
              </a:rPr>
              <a:t> Designed as a localized system architecture, which may require cloud-scaling for extremely high traffic volumes.</a:t>
            </a:r>
          </a:p>
          <a:p>
            <a:pPr algn="just">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a:p>
            <a:pPr algn="just">
              <a:buFont typeface="Arial" panose="020B0604020202020204" pitchFamily="34" charset="0"/>
              <a:buChar char="•"/>
            </a:pPr>
            <a:r>
              <a:rPr lang="en-US" sz="2000" b="1" dirty="0">
                <a:latin typeface="Cambria" panose="02040503050406030204" pitchFamily="18" charset="0"/>
                <a:ea typeface="Cambria" panose="02040503050406030204" pitchFamily="18" charset="0"/>
              </a:rPr>
              <a:t>No Offline Mode:</a:t>
            </a:r>
            <a:r>
              <a:rPr lang="en-US" sz="2000" dirty="0">
                <a:latin typeface="Cambria" panose="02040503050406030204" pitchFamily="18" charset="0"/>
                <a:ea typeface="Cambria" panose="02040503050406030204" pitchFamily="18" charset="0"/>
              </a:rPr>
              <a:t> Requires a continuous connection to the PHP server and MySQL database to process any core transactions.</a:t>
            </a: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3C6AE0355CC0A41B2A264A7C8DCCF1A" ma:contentTypeVersion="4" ma:contentTypeDescription="Create a new document." ma:contentTypeScope="" ma:versionID="30a4a8c4a2721bb647b48e2d4f6bfa23">
  <xsd:schema xmlns:xsd="http://www.w3.org/2001/XMLSchema" xmlns:xs="http://www.w3.org/2001/XMLSchema" xmlns:p="http://schemas.microsoft.com/office/2006/metadata/properties" xmlns:ns3="7b45ea3a-fd4c-41f1-8405-ea7d96d73368" targetNamespace="http://schemas.microsoft.com/office/2006/metadata/properties" ma:root="true" ma:fieldsID="4a5be21c1b54565b9def089a64817cc4" ns3:_="">
    <xsd:import namespace="7b45ea3a-fd4c-41f1-8405-ea7d96d7336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45ea3a-fd4c-41f1-8405-ea7d96d7336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52FFAF8-9E5E-4EEC-926F-CB1053D4790C}">
  <ds:schemaRefs>
    <ds:schemaRef ds:uri="http://schemas.microsoft.com/sharepoint/v3/contenttype/forms"/>
  </ds:schemaRefs>
</ds:datastoreItem>
</file>

<file path=customXml/itemProps2.xml><?xml version="1.0" encoding="utf-8"?>
<ds:datastoreItem xmlns:ds="http://schemas.openxmlformats.org/officeDocument/2006/customXml" ds:itemID="{A55D7E4B-AEA7-4805-B672-4252BEDF167D}">
  <ds:schemaRefs>
    <ds:schemaRef ds:uri="http://purl.org/dc/terms/"/>
    <ds:schemaRef ds:uri="http://purl.org/dc/elements/1.1/"/>
    <ds:schemaRef ds:uri="http://schemas.microsoft.com/office/2006/metadata/properties"/>
    <ds:schemaRef ds:uri="7b45ea3a-fd4c-41f1-8405-ea7d96d73368"/>
    <ds:schemaRef ds:uri="http://purl.org/dc/dcmitype/"/>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21B51FA1-DF8C-4EA6-8D10-F48A18C9CC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b45ea3a-fd4c-41f1-8405-ea7d96d733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544</TotalTime>
  <Words>1421</Words>
  <Application>Microsoft Office PowerPoint</Application>
  <PresentationFormat>Custom</PresentationFormat>
  <Paragraphs>279</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Bookman Old Style</vt:lpstr>
      <vt:lpstr>Arial</vt:lpstr>
      <vt:lpstr>Calibri</vt:lpstr>
      <vt:lpstr>Times New Roman</vt:lpstr>
      <vt:lpstr>Cambria</vt:lpstr>
      <vt:lpstr>Wingdings</vt:lpstr>
      <vt:lpstr>Gotham Bold Italics</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MADHUKSHA KURUMETI</dc:creator>
  <cp:lastModifiedBy>pavani chowdary</cp:lastModifiedBy>
  <cp:revision>13</cp:revision>
  <dcterms:created xsi:type="dcterms:W3CDTF">2006-08-16T00:00:00Z</dcterms:created>
  <dcterms:modified xsi:type="dcterms:W3CDTF">2026-03-24T03:24:25Z</dcterms:modified>
  <dc:identifier>DAHCaYqJ9OU</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0x01010013C6AE0355CC0A41B2A264A7C8DCCF1A</vt:lpwstr>
  </property>
</Properties>
</file>